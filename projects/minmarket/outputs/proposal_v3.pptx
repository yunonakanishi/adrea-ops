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828800"/>
            <a:ext cx="1371600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4000" b="1">
                <a:solidFill>
                  <a:srgbClr val="FFFFFF"/>
                </a:solidFill>
              </a:defRPr>
            </a:pPr>
            <a:r>
              <a:t>紙媒体プロモーションのご提案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FFFFFF"/>
                </a:solidFill>
              </a:defRPr>
            </a:pPr>
          </a:p>
          <a:p>
            <a:pPr algn="l">
              <a:spcAft>
                <a:spcPts val="400"/>
              </a:spcAft>
              <a:defRPr sz="2200" b="0">
                <a:solidFill>
                  <a:srgbClr val="AACCEE"/>
                </a:solidFill>
              </a:defRPr>
            </a:pPr>
            <a:r>
              <a:t>地方エリアでの「選ばれるプラットフォーム」を</a:t>
            </a:r>
            <a:br/>
            <a:r>
              <a:t>紙媒体で確立する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DDDDDD"/>
                </a:solidFill>
              </a:defRPr>
            </a:pPr>
            <a:r>
              <a:t>くらしのマーケット 様</a:t>
            </a:r>
          </a:p>
          <a:p>
            <a:pPr algn="l">
              <a:spcAft>
                <a:spcPts val="400"/>
              </a:spcAft>
              <a:defRPr sz="800" b="0">
                <a:solidFill>
                  <a:srgbClr val="FFFFFF"/>
                </a:solidFill>
              </a:defRPr>
            </a:pPr>
          </a:p>
          <a:p>
            <a:pPr algn="l">
              <a:spcAft>
                <a:spcPts val="400"/>
              </a:spcAft>
              <a:defRPr sz="1400" b="0">
                <a:solidFill>
                  <a:srgbClr val="99AABB"/>
                </a:solidFill>
              </a:defRPr>
            </a:pPr>
            <a:r>
              <a:t>2026年3月  |  株式会社アドレア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くらしのマーケットの成長と次の成長レバー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CCEE"/>
                </a:solidFill>
              </a:defRPr>
            </a:pPr>
            <a:r>
              <a:t>圧倒的な実績の先にある、次のステージ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3291840" cy="2286000"/>
          </a:xfrm>
          <a:prstGeom prst="round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3736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E86C1"/>
                </a:solidFill>
              </a:defRPr>
            </a:pPr>
            <a:r>
              <a:t>10万店+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774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2A4A"/>
                </a:solidFill>
              </a:defRPr>
            </a:pPr>
            <a:r>
              <a:t>累計出店登録数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83464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</a:defRPr>
            </a:pPr>
            <a:r>
              <a:t>国内最大級の出張訪問</a:t>
            </a:r>
            <a:br/>
            <a:r>
              <a:t>サービスプラットフォーム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59" y="1463040"/>
            <a:ext cx="3291840" cy="2286000"/>
          </a:xfrm>
          <a:prstGeom prst="round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79" y="173736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E86C1"/>
                </a:solidFill>
              </a:defRPr>
            </a:pPr>
            <a:r>
              <a:t>400+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79" y="23774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2A4A"/>
                </a:solidFill>
              </a:defRPr>
            </a:pPr>
            <a:r>
              <a:t>サービスカテゴリ数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79" y="283464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</a:defRPr>
            </a:pPr>
            <a:r>
              <a:t>生活に関わるあらゆる</a:t>
            </a:r>
            <a:br/>
            <a:r>
              <a:t>サービスをカバー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463040"/>
            <a:ext cx="3291840" cy="2286000"/>
          </a:xfrm>
          <a:prstGeom prst="round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0" y="173736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E86C1"/>
                </a:solidFill>
              </a:defRPr>
            </a:pPr>
            <a:r>
              <a:t>ROAS 150%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23774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2A4A"/>
                </a:solidFill>
              </a:defRPr>
            </a:pPr>
            <a:r>
              <a:t>ペイド広告の成果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283464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</a:defRPr>
            </a:pPr>
            <a:r>
              <a:t>目標超過達成</a:t>
            </a:r>
            <a:br/>
            <a:r>
              <a:t>高い広告効率を実現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4114800"/>
            <a:ext cx="10698480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38912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000" b="1">
                <a:solidFill>
                  <a:srgbClr val="1B2A4A"/>
                </a:solidFill>
              </a:defRPr>
            </a:pPr>
            <a:r>
              <a:t>▶  次の成長レバー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333333"/>
                </a:solidFill>
              </a:defRPr>
            </a:pPr>
          </a:p>
          <a:p>
            <a:pPr algn="l">
              <a:spcAft>
                <a:spcPts val="400"/>
              </a:spcAft>
              <a:defRPr sz="1600" b="0">
                <a:solidFill>
                  <a:srgbClr val="333333"/>
                </a:solidFill>
              </a:defRPr>
            </a:pPr>
            <a:r>
              <a:t>① 地方エリアの立ち上げ（北陸・四国を最優先、次いで九州）</a:t>
            </a:r>
          </a:p>
          <a:p>
            <a:pPr algn="l">
              <a:spcAft>
                <a:spcPts val="400"/>
              </a:spcAft>
              <a:defRPr sz="1600" b="0">
                <a:solidFill>
                  <a:srgbClr val="333333"/>
                </a:solidFill>
              </a:defRPr>
            </a:pPr>
            <a:r>
              <a:t>② 売り手（職人）の集客拡大 — 個人事業主が多く、従来の営業手法ではリーチが困難</a:t>
            </a:r>
          </a:p>
          <a:p>
            <a:pPr algn="l">
              <a:spcAft>
                <a:spcPts val="400"/>
              </a:spcAft>
              <a:defRPr sz="1600" b="0">
                <a:solidFill>
                  <a:srgbClr val="333333"/>
                </a:solidFill>
              </a:defRPr>
            </a:pPr>
            <a:r>
              <a:t>③ 15周年（2026年7月）を起点としたプロモーション強化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地方エリアが持つ2つの構造的な壁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CCEE"/>
                </a:solidFill>
              </a:defRPr>
            </a:pPr>
            <a:r>
              <a:t>デジタルだけでは届きにくい領域がある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029200" cy="4114800"/>
          </a:xfrm>
          <a:prstGeom prst="roundRect">
            <a:avLst/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645920"/>
            <a:ext cx="4389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E74C3C"/>
                </a:solidFill>
              </a:defRPr>
            </a:pPr>
            <a:r>
              <a:t>壁 ①</a:t>
            </a:r>
          </a:p>
          <a:p>
            <a:pPr algn="l">
              <a:spcAft>
                <a:spcPts val="400"/>
              </a:spcAft>
              <a:defRPr sz="2200" b="1">
                <a:solidFill>
                  <a:srgbClr val="1B2A4A"/>
                </a:solidFill>
              </a:defRPr>
            </a:pPr>
            <a:r>
              <a:t>ユーザーと職人の</a:t>
            </a:r>
            <a:br/>
            <a:r>
              <a:t>「ニワトリとタマゴ」問題</a:t>
            </a:r>
          </a:p>
          <a:p>
            <a:pPr algn="l">
              <a:spcAft>
                <a:spcPts val="400"/>
              </a:spcAft>
              <a:defRPr sz="800" b="0">
                <a:solidFill>
                  <a:srgbClr val="333333"/>
                </a:solidFill>
              </a:defRPr>
            </a:pPr>
          </a:p>
          <a:p>
            <a:pPr algn="l">
              <a:spcAft>
                <a:spcPts val="400"/>
              </a:spcAft>
              <a:defRPr sz="1400" b="0">
                <a:solidFill>
                  <a:srgbClr val="333333"/>
                </a:solidFill>
              </a:defRPr>
            </a:pPr>
            <a:r>
              <a:t>地方では職人が少ない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666666"/>
                </a:solidFill>
              </a:defRPr>
            </a:pPr>
            <a:r>
              <a:t>　→ ユーザーが検索しても選択肢が少ない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666666"/>
                </a:solidFill>
              </a:defRPr>
            </a:pPr>
            <a:r>
              <a:t>　→ ユーザーが離脱する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666666"/>
                </a:solidFill>
              </a:defRPr>
            </a:pPr>
            <a:r>
              <a:t>　→ 職人にとって出店メリットが薄い</a:t>
            </a:r>
          </a:p>
          <a:p>
            <a:pPr algn="l">
              <a:spcAft>
                <a:spcPts val="400"/>
              </a:spcAft>
              <a:defRPr sz="800" b="0">
                <a:solidFill>
                  <a:srgbClr val="333333"/>
                </a:solidFill>
              </a:defRPr>
            </a:pPr>
          </a:p>
          <a:p>
            <a:pPr algn="l">
              <a:spcAft>
                <a:spcPts val="400"/>
              </a:spcAft>
              <a:defRPr sz="1400" b="1">
                <a:solidFill>
                  <a:srgbClr val="E74C3C"/>
                </a:solidFill>
              </a:defRPr>
            </a:pPr>
            <a:r>
              <a:t>ユーザーと職人、両サイドを同時に立ち上げる</a:t>
            </a:r>
            <a:br/>
            <a:r>
              <a:t>施策が必要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463040"/>
            <a:ext cx="5029200" cy="4114800"/>
          </a:xfrm>
          <a:prstGeom prst="round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645920"/>
            <a:ext cx="4389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2E86C1"/>
                </a:solidFill>
              </a:defRPr>
            </a:pPr>
            <a:r>
              <a:t>壁 ②</a:t>
            </a:r>
          </a:p>
          <a:p>
            <a:pPr algn="l">
              <a:spcAft>
                <a:spcPts val="400"/>
              </a:spcAft>
              <a:defRPr sz="2200" b="1">
                <a:solidFill>
                  <a:srgbClr val="1B2A4A"/>
                </a:solidFill>
              </a:defRPr>
            </a:pPr>
            <a:r>
              <a:t>デジタル広告の</a:t>
            </a:r>
            <a:br/>
            <a:r>
              <a:t>「地方の壁」</a:t>
            </a:r>
          </a:p>
          <a:p>
            <a:pPr algn="l">
              <a:spcAft>
                <a:spcPts val="400"/>
              </a:spcAft>
              <a:defRPr sz="800" b="0">
                <a:solidFill>
                  <a:srgbClr val="333333"/>
                </a:solidFill>
              </a:defRPr>
            </a:pPr>
          </a:p>
          <a:p>
            <a:pPr algn="l">
              <a:spcAft>
                <a:spcPts val="400"/>
              </a:spcAft>
              <a:defRPr sz="1400" b="0">
                <a:solidFill>
                  <a:srgbClr val="333333"/>
                </a:solidFill>
              </a:defRPr>
            </a:pPr>
            <a:r>
              <a:t>地方はデジタル広告の配信ボリュームが限定的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666666"/>
                </a:solidFill>
              </a:defRPr>
            </a:pPr>
            <a:r>
              <a:t>　→ リスティング・ディスプレイの在庫が少ない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666666"/>
                </a:solidFill>
              </a:defRPr>
            </a:pPr>
            <a:r>
              <a:t>　→ CPAが高騰しやすい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666666"/>
                </a:solidFill>
              </a:defRPr>
            </a:pPr>
            <a:r>
              <a:t>　→ そもそもリーチできない層が存在する</a:t>
            </a:r>
          </a:p>
          <a:p>
            <a:pPr algn="l">
              <a:spcAft>
                <a:spcPts val="400"/>
              </a:spcAft>
              <a:defRPr sz="800" b="0">
                <a:solidFill>
                  <a:srgbClr val="333333"/>
                </a:solidFill>
              </a:defRPr>
            </a:pPr>
          </a:p>
          <a:p>
            <a:pPr algn="l">
              <a:spcAft>
                <a:spcPts val="400"/>
              </a:spcAft>
              <a:defRPr sz="1400" b="1">
                <a:solidFill>
                  <a:srgbClr val="2E86C1"/>
                </a:solidFill>
              </a:defRPr>
            </a:pPr>
            <a:r>
              <a:t>デジタル以外のチャネルで</a:t>
            </a:r>
            <a:br/>
            <a:r>
              <a:t>「面」を取る必要がある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提案：認知施策 × 紙媒体で行動喚起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CCEE"/>
                </a:solidFill>
              </a:defRPr>
            </a:pPr>
            <a:r>
              <a:t>3つの柱で地方エリアの両サイド同時獲得を実現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22960" y="1554480"/>
            <a:ext cx="640080" cy="640080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60020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2A4A"/>
                </a:solidFill>
              </a:defRPr>
            </a:pPr>
            <a:r>
              <a:t>両サイド同時獲得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377440"/>
            <a:ext cx="3291840" cy="3840480"/>
          </a:xfrm>
          <a:prstGeom prst="roundRect">
            <a:avLst/>
          </a:prstGeom>
          <a:solidFill>
            <a:srgbClr val="F2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560320"/>
            <a:ext cx="2743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</a:defRPr>
            </a:pPr>
            <a:r>
              <a:t>ユーザー向け（表面）と</a:t>
            </a:r>
            <a:br/>
            <a:r>
              <a:t>職人向け（裏面）を</a:t>
            </a:r>
            <a:br/>
            <a:r>
              <a:t>1枚のチラシに集約</a:t>
            </a:r>
            <a:br/>
            <a:br/>
            <a:r>
              <a:t>ユーザーと売り手の</a:t>
            </a:r>
            <a:br/>
            <a:r>
              <a:t>両方に同時リーチ</a:t>
            </a:r>
          </a:p>
        </p:txBody>
      </p:sp>
      <p:sp>
        <p:nvSpPr>
          <p:cNvPr id="10" name="Oval 9"/>
          <p:cNvSpPr/>
          <p:nvPr/>
        </p:nvSpPr>
        <p:spPr>
          <a:xfrm>
            <a:off x="4571999" y="1554480"/>
            <a:ext cx="640080" cy="640080"/>
          </a:xfrm>
          <a:prstGeom prst="ellipse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94959" y="160020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2A4A"/>
                </a:solidFill>
              </a:defRPr>
            </a:pPr>
            <a:r>
              <a:t>エリアピンポイント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59" y="2377440"/>
            <a:ext cx="3291840" cy="3840480"/>
          </a:xfrm>
          <a:prstGeom prst="roundRect">
            <a:avLst/>
          </a:prstGeom>
          <a:solidFill>
            <a:srgbClr val="F2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79" y="2560320"/>
            <a:ext cx="2743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</a:defRPr>
            </a:pPr>
            <a:r>
              <a:t>町丁目単位のデータで</a:t>
            </a:r>
            <a:br/>
            <a:r>
              <a:t>配布エリアを精密設計</a:t>
            </a:r>
            <a:br/>
            <a:br/>
            <a:r>
              <a:t>北陸・四国の</a:t>
            </a:r>
            <a:br/>
            <a:r>
              <a:t>優先エリアに集中投下</a:t>
            </a:r>
            <a:br/>
            <a:r>
              <a:t>ムダ打ちを最小化</a:t>
            </a:r>
          </a:p>
        </p:txBody>
      </p:sp>
      <p:sp>
        <p:nvSpPr>
          <p:cNvPr id="14" name="Oval 13"/>
          <p:cNvSpPr/>
          <p:nvPr/>
        </p:nvSpPr>
        <p:spPr>
          <a:xfrm>
            <a:off x="8321040" y="1554480"/>
            <a:ext cx="640080" cy="64008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0" y="160020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2A4A"/>
                </a:solidFill>
              </a:defRPr>
            </a:pPr>
            <a:r>
              <a:t>紙媒体フルラインナップ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2377440"/>
            <a:ext cx="3291840" cy="3840480"/>
          </a:xfrm>
          <a:prstGeom prst="roundRect">
            <a:avLst/>
          </a:prstGeom>
          <a:solidFill>
            <a:srgbClr val="F2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20" y="2560320"/>
            <a:ext cx="2743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</a:defRPr>
            </a:pPr>
            <a:r>
              <a:t>ポスティング</a:t>
            </a:r>
            <a:br/>
            <a:r>
              <a:t>新聞折込</a:t>
            </a:r>
            <a:br/>
            <a:r>
              <a:t>DM</a:t>
            </a:r>
            <a:br/>
            <a:r>
              <a:t>サンプリング</a:t>
            </a:r>
            <a:br/>
            <a:br/>
            <a:r>
              <a:t>エリア特性に応じた</a:t>
            </a:r>
            <a:br/>
            <a:r>
              <a:t>最適な組み合わせ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なぜアドレアか：貴社が得られる4つの価値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303520" cy="2194560"/>
          </a:xfrm>
          <a:prstGeom prst="roundRect">
            <a:avLst/>
          </a:prstGeom>
          <a:solidFill>
            <a:srgbClr val="F2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5544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E86C1"/>
                </a:solidFill>
              </a:defRPr>
            </a:pPr>
            <a:r>
              <a:t>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6002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2A4A"/>
                </a:solidFill>
              </a:defRPr>
            </a:pPr>
            <a:r>
              <a:t>データに基づく配布設計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2148840"/>
            <a:ext cx="4114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町丁目単位のエリアDBと専任の分析チームが在籍。</a:t>
            </a:r>
            <a:br/>
            <a:r>
              <a:t>貴社DBとの掛け合わせで、最も反応が見込めるエリアを特定します。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371600"/>
            <a:ext cx="5303520" cy="2194560"/>
          </a:xfrm>
          <a:prstGeom prst="roundRect">
            <a:avLst/>
          </a:prstGeom>
          <a:solidFill>
            <a:srgbClr val="F2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15544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E86C1"/>
                </a:solidFill>
              </a:defRPr>
            </a:pPr>
            <a:r>
              <a:t>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16002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2A4A"/>
                </a:solidFill>
              </a:defRPr>
            </a:pPr>
            <a:r>
              <a:t>企画から配布まで一気通貫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2148840"/>
            <a:ext cx="4114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クリエイティブ制作・印刷・配布・効果計測まで一括対応。</a:t>
            </a:r>
            <a:br/>
            <a:r>
              <a:t>複数ベンダーとの調整コストをゼロにします。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931920"/>
            <a:ext cx="5303520" cy="2194560"/>
          </a:xfrm>
          <a:prstGeom prst="roundRect">
            <a:avLst/>
          </a:prstGeom>
          <a:solidFill>
            <a:srgbClr val="F2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1148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E86C1"/>
                </a:solidFill>
              </a:defRPr>
            </a:pPr>
            <a:r>
              <a:t>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41605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2A4A"/>
                </a:solidFill>
              </a:defRPr>
            </a:pPr>
            <a:r>
              <a:t>紙媒体の最適な組み合わせ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4709160"/>
            <a:ext cx="4114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紙媒体業界で長く勤めたメンバーが担当しており、柔軟な要望にも対応可能。</a:t>
            </a:r>
            <a:br/>
            <a:r>
              <a:t>ポスティング・新聞折込・DM・サンプリング等、エリア特性に応じた</a:t>
            </a:r>
            <a:br/>
            <a:r>
              <a:t>メディアミックスをご提案します。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3931920"/>
            <a:ext cx="5303520" cy="2194560"/>
          </a:xfrm>
          <a:prstGeom prst="roundRect">
            <a:avLst/>
          </a:prstGeom>
          <a:solidFill>
            <a:srgbClr val="F2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0" y="41148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E86C1"/>
                </a:solidFill>
              </a:defRPr>
            </a:pPr>
            <a:r>
              <a:t>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41605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2A4A"/>
                </a:solidFill>
              </a:defRPr>
            </a:pPr>
            <a:r>
              <a:t>改善が回り続ける仕組み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4709160"/>
            <a:ext cx="4114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フードデリバリーmenuで構築したPDCAフレームを転用。</a:t>
            </a:r>
            <a:br/>
            <a:r>
              <a:t>エリア別CVR分析 → 訴求軸改善 → 配布最適化のサイクルを回します。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プランの全体像：テスト → 15周年本番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CCEE"/>
                </a:solidFill>
              </a:defRPr>
            </a:pPr>
            <a:r>
              <a:t>小さく検証し、15周年で一気に拡大する2段構え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5029200" cy="54864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テスト期（4〜5月）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19456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</a:defRPr>
            </a:pPr>
            <a:r>
              <a:t>•  対象エリア：北陸（石川 or 富山）1〜2市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60604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</a:defRPr>
            </a:pPr>
            <a:r>
              <a:t>•  配布部数：3〜5万部（ポスティング中心）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01752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</a:defRPr>
            </a:pPr>
            <a:r>
              <a:t>•  想定予算：200〜400万円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42900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</a:defRPr>
            </a:pPr>
            <a:r>
              <a:t>•  チラシ仕様：両面（表：ユーザー訴求 / 裏：職人募集）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84048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</a:defRPr>
            </a:pPr>
            <a:r>
              <a:t>•  計測：プロモーションコード or 専用LP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25196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</a:defRPr>
            </a:pPr>
            <a:r>
              <a:t>•  目的：エリア特性の把握、反応率のベンチマーク取得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1463040"/>
            <a:ext cx="5029200" cy="54864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46304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15周年本番（7月）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219456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</a:defRPr>
            </a:pPr>
            <a:r>
              <a:t>•  対象エリア：北陸全域 + 四国（テスト結果で調整）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260604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</a:defRPr>
            </a:pPr>
            <a:r>
              <a:t>•  配布部数：20〜50万部（ポスティング + 新聞折込）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301752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</a:defRPr>
            </a:pPr>
            <a:r>
              <a:t>•  想定予算：1,000〜2,000万円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342900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</a:defRPr>
            </a:pPr>
            <a:r>
              <a:t>•  メディアミックス：ポスティング + 新聞折込 + DM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384048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</a:defRPr>
            </a:pPr>
            <a:r>
              <a:t>•  15周年クリエイティブで認知 × 行動喚起を両立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425196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</a:defRPr>
            </a:pPr>
            <a:r>
              <a:t>•  NOBROCK TV施策との連動（認知→行動の導線設計）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5577840" y="3200400"/>
            <a:ext cx="731520" cy="457200"/>
          </a:xfrm>
          <a:prstGeom prst="rightArrow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31520" y="5029200"/>
            <a:ext cx="10698480" cy="1188720"/>
          </a:xfrm>
          <a:prstGeom prst="roundRect">
            <a:avLst/>
          </a:prstGeom>
          <a:solidFill>
            <a:srgbClr val="FEF9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7280" y="512064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1B2A4A"/>
                </a:solidFill>
              </a:defRPr>
            </a:pPr>
            <a:r>
              <a:t>💡 予算の考え方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333333"/>
                </a:solidFill>
              </a:defRPr>
            </a:pPr>
            <a:r>
              <a:t>テスト期は200〜400万円の小規模投資でリスクを抑えつつ検証。本番は結果を見て1,000〜2,000万円規模に拡大。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666666"/>
                </a:solidFill>
              </a:defRPr>
            </a:pPr>
            <a:r>
              <a:t>月間広告予算（約6,000万円）の中で、新規チャネル開拓として段階的に投下するプランです。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配布設計：データの掛け合わせ × 両面チラシ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CCEE"/>
                </a:solidFill>
              </a:defRPr>
            </a:pPr>
            <a:r>
              <a:t>貴社DBとアドレアDBで最適エリアを特定し、1枚で両サイドにリーチ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3291840" cy="1828800"/>
          </a:xfrm>
          <a:prstGeom prst="round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463040"/>
            <a:ext cx="2743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600" b="1">
                <a:solidFill>
                  <a:srgbClr val="2E86C1"/>
                </a:solidFill>
              </a:defRPr>
            </a:pPr>
            <a:r>
              <a:t>貴社DB</a:t>
            </a:r>
          </a:p>
          <a:p>
            <a:pPr algn="l">
              <a:spcAft>
                <a:spcPts val="400"/>
              </a:spcAft>
              <a:defRPr sz="400" b="0">
                <a:solidFill>
                  <a:srgbClr val="333333"/>
                </a:solidFill>
              </a:defRPr>
            </a:pPr>
          </a:p>
          <a:p>
            <a:pPr algn="l">
              <a:spcAft>
                <a:spcPts val="400"/>
              </a:spcAft>
              <a:defRPr sz="1300" b="0">
                <a:solidFill>
                  <a:srgbClr val="333333"/>
                </a:solidFill>
              </a:defRPr>
            </a:pPr>
            <a:r>
              <a:t>• 市区町村別の出店者数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333333"/>
                </a:solidFill>
              </a:defRPr>
            </a:pPr>
            <a:r>
              <a:t>• カテゴリ別の需給バランス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333333"/>
                </a:solidFill>
              </a:defRPr>
            </a:pPr>
            <a:r>
              <a:t>• エリア別のユーザー数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182880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1B2A4A"/>
                </a:solidFill>
              </a:defRPr>
            </a:pPr>
            <a:r>
              <a:t>×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937760" y="1371600"/>
            <a:ext cx="3291840" cy="1828800"/>
          </a:xfrm>
          <a:prstGeom prst="roundRect">
            <a:avLst/>
          </a:prstGeom>
          <a:solidFill>
            <a:srgbClr val="E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80" y="1463040"/>
            <a:ext cx="2743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600" b="1">
                <a:solidFill>
                  <a:srgbClr val="27AE60"/>
                </a:solidFill>
              </a:defRPr>
            </a:pPr>
            <a:r>
              <a:t>アドレアDB</a:t>
            </a:r>
          </a:p>
          <a:p>
            <a:pPr algn="l">
              <a:spcAft>
                <a:spcPts val="400"/>
              </a:spcAft>
              <a:defRPr sz="400" b="0">
                <a:solidFill>
                  <a:srgbClr val="333333"/>
                </a:solidFill>
              </a:defRPr>
            </a:pPr>
          </a:p>
          <a:p>
            <a:pPr algn="l">
              <a:spcAft>
                <a:spcPts val="400"/>
              </a:spcAft>
              <a:defRPr sz="1300" b="0">
                <a:solidFill>
                  <a:srgbClr val="333333"/>
                </a:solidFill>
              </a:defRPr>
            </a:pPr>
            <a:r>
              <a:t>• 町丁目単位の人口統計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333333"/>
                </a:solidFill>
              </a:defRPr>
            </a:pPr>
            <a:r>
              <a:t>• 世帯構成・住居形態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333333"/>
                </a:solidFill>
              </a:defRPr>
            </a:pPr>
            <a:r>
              <a:t>• menu実績のCVR傾向値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182880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1B2A4A"/>
                </a:solidFill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52560" y="1371600"/>
            <a:ext cx="2377440" cy="1828800"/>
          </a:xfrm>
          <a:prstGeom prst="roundRect">
            <a:avLst/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35440" y="1463040"/>
            <a:ext cx="20116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600" b="1">
                <a:solidFill>
                  <a:srgbClr val="E74C3C"/>
                </a:solidFill>
              </a:defRPr>
            </a:pPr>
            <a:r>
              <a:t>最適配布エリア</a:t>
            </a:r>
          </a:p>
          <a:p>
            <a:pPr algn="l">
              <a:spcAft>
                <a:spcPts val="400"/>
              </a:spcAft>
              <a:defRPr sz="400" b="0">
                <a:solidFill>
                  <a:srgbClr val="333333"/>
                </a:solidFill>
              </a:defRPr>
            </a:pPr>
          </a:p>
          <a:p>
            <a:pPr algn="ctr">
              <a:spcAft>
                <a:spcPts val="400"/>
              </a:spcAft>
              <a:defRPr sz="1300" b="0">
                <a:solidFill>
                  <a:srgbClr val="333333"/>
                </a:solidFill>
              </a:defRPr>
            </a:pPr>
            <a:r>
              <a:t>職人不足 × 需要見込</a:t>
            </a:r>
            <a:br/>
            <a:r>
              <a:t>が高いエリアを</a:t>
            </a:r>
            <a:br/>
            <a:r>
              <a:t>町丁目単位で特定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657600"/>
            <a:ext cx="10698480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8404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2A4A"/>
                </a:solidFill>
              </a:defRPr>
            </a:pPr>
            <a:r>
              <a:t>▶  両面チラシの構造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480560"/>
            <a:ext cx="5029200" cy="1828800"/>
          </a:xfrm>
          <a:prstGeom prst="round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4572000"/>
            <a:ext cx="4389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2E86C1"/>
                </a:solidFill>
              </a:defRPr>
            </a:pPr>
            <a:r>
              <a:t>【表面】ユーザー向け</a:t>
            </a:r>
          </a:p>
          <a:p>
            <a:pPr algn="l">
              <a:spcAft>
                <a:spcPts val="400"/>
              </a:spcAft>
              <a:defRPr sz="400" b="0">
                <a:solidFill>
                  <a:srgbClr val="333333"/>
                </a:solidFill>
              </a:defRPr>
            </a:pPr>
          </a:p>
          <a:p>
            <a:pPr algn="l">
              <a:spcAft>
                <a:spcPts val="400"/>
              </a:spcAft>
              <a:defRPr sz="1400" b="0">
                <a:solidFill>
                  <a:srgbClr val="333333"/>
                </a:solidFill>
              </a:defRPr>
            </a:pPr>
            <a:r>
              <a:t>「あなたの街のプロに頼める」訴求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333333"/>
                </a:solidFill>
              </a:defRPr>
            </a:pPr>
            <a:r>
              <a:t>15周年キャンペーン特典（初回割引等）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333333"/>
                </a:solidFill>
              </a:defRPr>
            </a:pPr>
            <a:r>
              <a:t>QRコード → 専用LP（計測用）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4480560"/>
            <a:ext cx="5029200" cy="1828800"/>
          </a:xfrm>
          <a:prstGeom prst="roundRect">
            <a:avLst/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0" y="4572000"/>
            <a:ext cx="4389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E74C3C"/>
                </a:solidFill>
              </a:defRPr>
            </a:pPr>
            <a:r>
              <a:t>【裏面】職人・事業者向け</a:t>
            </a:r>
          </a:p>
          <a:p>
            <a:pPr algn="l">
              <a:spcAft>
                <a:spcPts val="400"/>
              </a:spcAft>
              <a:defRPr sz="400" b="0">
                <a:solidFill>
                  <a:srgbClr val="333333"/>
                </a:solidFill>
              </a:defRPr>
            </a:pPr>
          </a:p>
          <a:p>
            <a:pPr algn="l">
              <a:spcAft>
                <a:spcPts val="400"/>
              </a:spcAft>
              <a:defRPr sz="1400" b="0">
                <a:solidFill>
                  <a:srgbClr val="333333"/>
                </a:solidFill>
              </a:defRPr>
            </a:pPr>
            <a:r>
              <a:t>「初期費用ゼロ・月額ゼロで集客」訴求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333333"/>
                </a:solidFill>
              </a:defRPr>
            </a:pPr>
            <a:r>
              <a:t>出店登録のメリット（手数料は成約時のみ）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333333"/>
                </a:solidFill>
              </a:defRPr>
            </a:pPr>
            <a:r>
              <a:t>QRコード → 出店登録ページ（計測用）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スケジュール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CCEE"/>
                </a:solidFill>
              </a:defRPr>
            </a:pPr>
            <a:r>
              <a:t>3月スタート → 7月15周年本番の全体タイムライン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2048256" cy="731520"/>
          </a:xfrm>
          <a:prstGeom prst="roundRect">
            <a:avLst/>
          </a:prstGeom>
          <a:solidFill>
            <a:srgbClr val="8592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3月</a:t>
            </a:r>
            <a:br/>
            <a:r>
              <a:t>準備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834640"/>
            <a:ext cx="19568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• DB共有・エリア選定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246120"/>
            <a:ext cx="19568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• 見積作成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657600"/>
            <a:ext cx="19568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• CR方向性合意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71216" y="1828800"/>
            <a:ext cx="2048256" cy="731520"/>
          </a:xfrm>
          <a:prstGeom prst="round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4月</a:t>
            </a:r>
            <a:br/>
            <a:r>
              <a:t>制作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62656" y="2834640"/>
            <a:ext cx="19568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• チラシデザイン制作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62656" y="3246120"/>
            <a:ext cx="19568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• 印刷・配布手配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62656" y="3657600"/>
            <a:ext cx="19568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• 計測設計確定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10912" y="1828800"/>
            <a:ext cx="2048256" cy="73152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4〜5月</a:t>
            </a:r>
            <a:br/>
            <a:r>
              <a:t>テスト配布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02352" y="2834640"/>
            <a:ext cx="19568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• 北陸1〜2市で配布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02352" y="3246120"/>
            <a:ext cx="19568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• 3〜5万部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02352" y="3657600"/>
            <a:ext cx="19568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• 効果計測・分析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50608" y="1828800"/>
            <a:ext cx="2048256" cy="73152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6月</a:t>
            </a:r>
            <a:br/>
            <a:r>
              <a:t>改善・拡大準備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42048" y="2834640"/>
            <a:ext cx="19568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• テスト結果分析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42048" y="3246120"/>
            <a:ext cx="19568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• CR改善・エリア拡大設計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42048" y="3657600"/>
            <a:ext cx="19568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• 本番用制作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290304" y="1828800"/>
            <a:ext cx="2048256" cy="73152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7月</a:t>
            </a:r>
            <a:br/>
            <a:r>
              <a:t>15周年本番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81744" y="2834640"/>
            <a:ext cx="19568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• 北陸全域+四国展開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81744" y="3246120"/>
            <a:ext cx="19568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• 20〜50万部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81744" y="3657600"/>
            <a:ext cx="19568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• NOBROCK TV連動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4572000"/>
            <a:ext cx="10698480" cy="36576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58368" y="4517136"/>
            <a:ext cx="146304" cy="146304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0" y="470916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B2A4A"/>
                </a:solidFill>
              </a:defRPr>
            </a:pPr>
            <a:r>
              <a:t>キックオフ</a:t>
            </a:r>
          </a:p>
        </p:txBody>
      </p:sp>
      <p:sp>
        <p:nvSpPr>
          <p:cNvPr id="29" name="Oval 28"/>
          <p:cNvSpPr/>
          <p:nvPr/>
        </p:nvSpPr>
        <p:spPr>
          <a:xfrm>
            <a:off x="4937760" y="4517136"/>
            <a:ext cx="146304" cy="146304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279392" y="470916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B2A4A"/>
                </a:solidFill>
              </a:defRPr>
            </a:pPr>
            <a:r>
              <a:t>テスト配布開始</a:t>
            </a:r>
          </a:p>
        </p:txBody>
      </p:sp>
      <p:sp>
        <p:nvSpPr>
          <p:cNvPr id="31" name="Oval 30"/>
          <p:cNvSpPr/>
          <p:nvPr/>
        </p:nvSpPr>
        <p:spPr>
          <a:xfrm>
            <a:off x="7077456" y="4517136"/>
            <a:ext cx="146304" cy="146304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19088" y="470916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B2A4A"/>
                </a:solidFill>
              </a:defRPr>
            </a:pPr>
            <a:r>
              <a:t>中間レビュー</a:t>
            </a:r>
          </a:p>
        </p:txBody>
      </p:sp>
      <p:sp>
        <p:nvSpPr>
          <p:cNvPr id="33" name="Oval 32"/>
          <p:cNvSpPr/>
          <p:nvPr/>
        </p:nvSpPr>
        <p:spPr>
          <a:xfrm>
            <a:off x="9217152" y="4517136"/>
            <a:ext cx="146304" cy="146304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58784" y="470916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B2A4A"/>
                </a:solidFill>
              </a:defRPr>
            </a:pPr>
            <a:r>
              <a:t>本番配布開始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1520" y="5212080"/>
            <a:ext cx="10698480" cy="1097280"/>
          </a:xfrm>
          <a:prstGeom prst="roundRect">
            <a:avLst/>
          </a:prstGeom>
          <a:solidFill>
            <a:srgbClr val="F2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97280" y="53035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1">
                <a:solidFill>
                  <a:srgbClr val="1B2A4A"/>
                </a:solidFill>
              </a:defRPr>
            </a:pPr>
            <a:r>
              <a:t>📰 北陸エリアのメディア参考情報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666666"/>
                </a:solidFill>
              </a:defRPr>
            </a:pPr>
            <a:r>
              <a:t>富山：北日本新聞（約23万部・シェア67%）/ 石川：北國新聞（折込エリアマップ公開）/ ポスティング：カラフルカンパニー（戸別宅配型フリーペーパー運営）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666666"/>
                </a:solidFill>
              </a:defRPr>
            </a:pPr>
            <a:r>
              <a:t>→ 新聞折込は地方ほど相対的にリーチ力が高い（全国的な減少傾向の中で中部は世帯あたり部数が高水準）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ネクストステップ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CCEE"/>
                </a:solidFill>
              </a:defRPr>
            </a:pPr>
            <a:r>
              <a:t>4つのアクションで具体化を進めます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463040"/>
            <a:ext cx="2651760" cy="548640"/>
          </a:xfrm>
          <a:prstGeom prst="round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STEP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4884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B2A4A"/>
                </a:solidFill>
              </a:defRPr>
            </a:pPr>
            <a:r>
              <a:t>DB共有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743200"/>
            <a:ext cx="2651760" cy="2560320"/>
          </a:xfrm>
          <a:prstGeom prst="roundRect">
            <a:avLst/>
          </a:prstGeom>
          <a:solidFill>
            <a:srgbClr val="F2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926080"/>
            <a:ext cx="22860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</a:defRPr>
            </a:pPr>
            <a:r>
              <a:t>貴社の市区町村別データ（出店者数・</a:t>
            </a:r>
            <a:br/>
            <a:r>
              <a:t>ユーザー数）を共有いただき、</a:t>
            </a:r>
            <a:br/>
            <a:r>
              <a:t>アドレアDBと掛け合わせて</a:t>
            </a:r>
            <a:br/>
            <a:r>
              <a:t>最適配布エリアを設計します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200400" y="3749040"/>
            <a:ext cx="274320" cy="27432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337560" y="1463040"/>
            <a:ext cx="2651760" cy="54864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STEP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214884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B2A4A"/>
                </a:solidFill>
              </a:defRPr>
            </a:pPr>
            <a:r>
              <a:t>見積作成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37560" y="2743200"/>
            <a:ext cx="2651760" cy="2560320"/>
          </a:xfrm>
          <a:prstGeom prst="roundRect">
            <a:avLst/>
          </a:prstGeom>
          <a:solidFill>
            <a:srgbClr val="F2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20440" y="2926080"/>
            <a:ext cx="22860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</a:defRPr>
            </a:pPr>
            <a:r>
              <a:t>北陸・四国のポスティング単価・</a:t>
            </a:r>
            <a:br/>
            <a:r>
              <a:t>配布カバー率を確認し、</a:t>
            </a:r>
            <a:br/>
            <a:r>
              <a:t>テスト配布の具体見積を</a:t>
            </a:r>
            <a:br/>
            <a:r>
              <a:t>ご提出します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6080760" y="3749040"/>
            <a:ext cx="274320" cy="27432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17920" y="1463040"/>
            <a:ext cx="2651760" cy="54864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STEP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214884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B2A4A"/>
                </a:solidFill>
              </a:defRPr>
            </a:pPr>
            <a:r>
              <a:t>CR方向性合意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2743200"/>
            <a:ext cx="2651760" cy="2560320"/>
          </a:xfrm>
          <a:prstGeom prst="roundRect">
            <a:avLst/>
          </a:prstGeom>
          <a:solidFill>
            <a:srgbClr val="F2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2926080"/>
            <a:ext cx="22860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</a:defRPr>
            </a:pPr>
            <a:r>
              <a:t>両面チラシの訴求軸・</a:t>
            </a:r>
            <a:br/>
            <a:r>
              <a:t>デザイン方向性について</a:t>
            </a:r>
            <a:br/>
            <a:r>
              <a:t>合意いただき、</a:t>
            </a:r>
            <a:br/>
            <a:r>
              <a:t>制作に着手します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8961120" y="3749040"/>
            <a:ext cx="274320" cy="27432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098280" y="1463040"/>
            <a:ext cx="2651760" cy="54864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STEP 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98280" y="214884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B2A4A"/>
                </a:solidFill>
              </a:defRPr>
            </a:pPr>
            <a:r>
              <a:t>計測設計確定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98280" y="2743200"/>
            <a:ext cx="2651760" cy="2560320"/>
          </a:xfrm>
          <a:prstGeom prst="roundRect">
            <a:avLst/>
          </a:prstGeom>
          <a:solidFill>
            <a:srgbClr val="F2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81160" y="2926080"/>
            <a:ext cx="22860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</a:defRPr>
            </a:pPr>
            <a:r>
              <a:t>プロモーションコード or 専用LP</a:t>
            </a:r>
            <a:br/>
            <a:r>
              <a:t>による計測方法を確定し、</a:t>
            </a:r>
            <a:br/>
            <a:r>
              <a:t>効果測定の準備を</a:t>
            </a:r>
            <a:br/>
            <a:r>
              <a:t>整えます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5486400"/>
            <a:ext cx="10698480" cy="73152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55778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</a:defRPr>
            </a:pPr>
            <a:r>
              <a:t>まずはSTEP 1のDB共有からスタート。3月中にエリア設計を完了し、4月のテスト配布に繋げます。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2560320"/>
            <a:ext cx="1371600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4400" b="1">
                <a:solidFill>
                  <a:srgbClr val="FFFFFF"/>
                </a:solidFill>
              </a:defRPr>
            </a:pPr>
            <a:r>
              <a:t>Thank you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FFFFFF"/>
                </a:solidFill>
              </a:defRPr>
            </a:pPr>
          </a:p>
          <a:p>
            <a:pPr algn="l">
              <a:spcAft>
                <a:spcPts val="400"/>
              </a:spcAft>
              <a:defRPr sz="1800" b="0">
                <a:solidFill>
                  <a:srgbClr val="AACCEE"/>
                </a:solidFill>
              </a:defRPr>
            </a:pPr>
            <a:r>
              <a:t>ご不明な点がございましたら、お気軽にお問い合わせください。</a:t>
            </a:r>
          </a:p>
          <a:p>
            <a:pPr algn="l">
              <a:spcAft>
                <a:spcPts val="400"/>
              </a:spcAft>
              <a:defRPr sz="800" b="0">
                <a:solidFill>
                  <a:srgbClr val="FFFFFF"/>
                </a:solidFill>
              </a:defRPr>
            </a:pPr>
          </a:p>
          <a:p>
            <a:pPr algn="l">
              <a:spcAft>
                <a:spcPts val="400"/>
              </a:spcAft>
              <a:defRPr sz="1600" b="0">
                <a:solidFill>
                  <a:srgbClr val="99AABB"/>
                </a:solidFill>
              </a:defRPr>
            </a:pPr>
            <a:r>
              <a:t>株式会社アドレア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